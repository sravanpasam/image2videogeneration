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Carlito" panose="020B0604020202020204" charset="0"/>
      <p:regular r:id="rId26"/>
    </p:embeddedFont>
    <p:embeddedFont>
      <p:font typeface="Carlito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35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1097260"/>
            <a:ext cx="109634" cy="4389239"/>
          </a:xfrm>
          <a:prstGeom prst="rect">
            <a:avLst/>
          </a:prstGeom>
          <a:solidFill>
            <a:srgbClr val="2563E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88611" y="1083270"/>
            <a:ext cx="1051940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RESEARCH &amp; ENGINEERING PRESENTATION | DEEP LEARNING FOR VISUAL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611" y="1419439"/>
            <a:ext cx="99098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IMAGE2VIDEO: Single-Image Audio-Driven</a:t>
            </a:r>
            <a:endParaRPr lang="en-US" sz="3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Talking-Head Video Generation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611" y="2556470"/>
            <a:ext cx="99098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End-to-End Deep Learning Pipeline (Script2Presenter) Leveraging Neural Speech Synthesis,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Pretrained 3DMM Face Animation (SadTalker), and Isolated GPU Orchestration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22940" y="3976852"/>
            <a:ext cx="9875491" cy="2082800"/>
          </a:xfrm>
          <a:prstGeom prst="roundRect">
            <a:avLst>
              <a:gd name="adj" fmla="val 1668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379730" dist="12573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2944" y="4242858"/>
            <a:ext cx="978788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AUTHOR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2944" y="4513322"/>
            <a:ext cx="978788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Venkata Saisravan Pasam</a:t>
            </a:r>
            <a:r>
              <a:rPr lang="en-US" sz="16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 ·  Student ID 1577293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2944" y="4850672"/>
            <a:ext cx="978788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COURSE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2944" y="5117036"/>
            <a:ext cx="978788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MAAI901 - Deep Learning for Visual Data</a:t>
            </a:r>
            <a:r>
              <a:rPr lang="en-US" sz="14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 ·  Instructor: Dr. Milan Dordevic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2944" y="5428026"/>
            <a:ext cx="978788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INSTITUTION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2944" y="5694390"/>
            <a:ext cx="978788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University of Wollongong in Dubai (UOWD)</a:t>
            </a:r>
            <a:r>
              <a:rPr lang="en-US" sz="14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 ·  Individual Project (Week 6)  ·  Date: 27 October 2026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BFFE3C-B784-1293-F5A1-E51B49D9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960" y="6519735"/>
            <a:ext cx="1209039" cy="291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4707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Project Abstract &amp; System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47701"/>
            <a:ext cx="11582110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 single-image, audio-driven talking-head video generator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774924"/>
            <a:ext cx="3454314" cy="49306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7380" y="1878063"/>
            <a:ext cx="309872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1. Problem &amp; Scope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7380" y="2322513"/>
            <a:ext cx="3098722" cy="378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Audio-driven animation: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Animates one 2D still portrait, conditioned on speech audio.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Speech synthesis: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Multi-tier TTS turns raw text scripts into natural narration.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Zero manual keyframing: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No multi-angle photos, 3D rigs, or actor recordings.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Academic integrity: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Clear split between pretrained inference and newly trained weights.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1774924"/>
            <a:ext cx="3454314" cy="49306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6486" y="1878063"/>
            <a:ext cx="309872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2. Architecture &amp;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46486" y="2688233"/>
            <a:ext cx="3098722" cy="348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Neural TTS: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edge-tts (cloud), Piper VITS (offline ONNX), and gTTS fallback.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Audio normalization: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Resampled to strict 16 kHz mono WAV.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SadTalker core: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Pretrained 3DMM extraction, audio-to-motion, and 25 FPS warping.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Isolated Colab runtime: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Self-contained Python 3.10 venv with NumPy 1.23.5.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1774924"/>
            <a:ext cx="3454314" cy="49306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5592" y="1878063"/>
            <a:ext cx="309872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3. Empirical Results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05592" y="2322513"/>
            <a:ext cx="3098722" cy="409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5 demonstration samples: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Consented portraits of diverse individuals.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Output consistency: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Nominal 25 FPS, 37.28–39.60 s, 932–990 frames.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Manifest audit trail: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Each run writes manifest.json with runtime, timings, and parameters.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Evaluation roadmap:</a:t>
            </a: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SyncNet, ArcFace, and Landmarks metrics plus a 5-point subjective rubric.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331B28-81E0-6CB3-0E63-1004E2461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74769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801" y="534591"/>
            <a:ext cx="927602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PROJECT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801" y="783575"/>
            <a:ext cx="1063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The Baseline vs. Single-Image Generative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801" y="1335246"/>
            <a:ext cx="1124705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Why conventional talking-head video production is being transformed by generative pipelines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422" y="1828602"/>
            <a:ext cx="5120552" cy="438904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9833" y="2011711"/>
            <a:ext cx="4455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Conventional Video Production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09833" y="2479040"/>
            <a:ext cx="4455207" cy="3656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✕  Heavy Physical Infrastructure: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Requires physical studios, acoustic treatment, professional camera rigs, and studio lighting.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✕  High Talent &amp; Time Costs: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Presenters must rehearse, read teleprompters, record multiple takes, and re-shoot for script changes.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✕  Rigid Post-Production: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Editing, noise suppression, frame cuts, and re-recording are time-consuming and expensive.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✕  Non-Scalable Content: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Generating 50 localized educational explainers requires 50 live studio recording sessions.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685" y="1828602"/>
            <a:ext cx="5212029" cy="438904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96096" y="2011711"/>
            <a:ext cx="454668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Image2Video Generative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96096" y="2479040"/>
            <a:ext cx="4546685" cy="341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 Single 2D Still Portrait: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Accepts standard JPEG/PNG headshot with no special 3D scanner or depth sensors.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 Arbitrary Text Script: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Generates matching natural voice narration automatically via neural speech synthesis.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 3D Motion &amp; Expression: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Pretrained deep models extrapolate 3D facial morphable models (3DMM) and head poses at 25 FPS.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 Rapid Iteration &amp; Accessibility: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Scripts can be updated and re-rendered in minutes; highly accessible for education and virtual presenters.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159928-C2BA-AA7B-E0B9-DBE489FE7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66679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04800"/>
            <a:ext cx="10728652" cy="36513"/>
          </a:xfrm>
          <a:prstGeom prst="roundRect">
            <a:avLst>
              <a:gd name="adj" fmla="val 499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8571" y="431800"/>
            <a:ext cx="112239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72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RESEARCH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8571" y="702945"/>
            <a:ext cx="1061435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Aim, Objectives &amp; Research Questions (RQ1 - RQ4)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8571" y="1193800"/>
            <a:ext cx="11223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Formal academic definition, working hypotheses, and evaluation questions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422" y="1651000"/>
            <a:ext cx="5206870" cy="5207000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9625" y="1854200"/>
            <a:ext cx="532116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Project Aim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9625" y="2235200"/>
            <a:ext cx="471158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To implement, orchestrate, and critically assess a practical single-image, audio-driven talking-head generation pipeline, focusing on output consistency, temporal stability, facial expressiveness, and reproducibility.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25" y="3784600"/>
            <a:ext cx="532116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Working Hypotheses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9625" y="4089400"/>
            <a:ext cx="4711582" cy="258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H1 (Engineering Hypothesis):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 pipeline combining neural TTS, audio preparation, and pretrained SadTalker can generate a playable talking-head video for each supported portrait/script pair.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H2 (Evaluation Hypothesis):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Enforcing consistent input/output settings and adding objective video-audio metrics will make sample-to-sample quality and failure modes easier to diagnose and compare.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244" y="1651000"/>
            <a:ext cx="5211930" cy="5207000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28827" y="1854200"/>
            <a:ext cx="52703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Research Questions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28827" y="2286000"/>
            <a:ext cx="4660783" cy="440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RQ1: Pipeline Feasibility.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Can the integrated pipeline produce a valid, playable talking-head MP4 from a single portrait and a text script without manual intervention?</a:t>
            </a: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RQ2: Technical Consistency.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How consistent are the generated videos in duration, frame rate, resolution, and frame count across different portraits and scripts?</a:t>
            </a: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RQ3: Evaluation Criteria.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Which objective and human-centred measures are needed to evaluate lip synchronisation, identity preservation, temporal stability, and expressiveness?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RQ4: Technical &amp; Ethical Bounds.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What technical and ethical limitations restrict the current prototype from being treated as a newly validated generative model?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CE4D90-AFCF-8D06-3F26-FEA24E55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500" y="6562714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DATASET &amp; DEMONSTRATION 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801" y="792976"/>
            <a:ext cx="1121639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Sample Inventory &amp; Justification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Analysis of the 5-sample demonstration set, consent protocols, and dataset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778000"/>
            <a:ext cx="10728652" cy="2692400"/>
          </a:xfrm>
          <a:prstGeom prst="roundRect">
            <a:avLst>
              <a:gd name="adj" fmla="val 17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377" y="1879600"/>
          <a:ext cx="10332679" cy="2602928"/>
        </p:xfrm>
        <a:graphic>
          <a:graphicData uri="http://schemas.openxmlformats.org/drawingml/2006/table">
            <a:tbl>
              <a:tblPr/>
              <a:tblGrid>
                <a:gridCol w="1033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Sample ID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Person Label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Input Filename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 Opening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Output Filename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Reported Size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1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Sravan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Sravan(4).jpeg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morning everyone. I'm Sravan...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script2presenter_demo (4).mp4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2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Sreeya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Sreeya(10).jpeg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morning everyone. I'm Sreeya...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script2presenter_demo (10).mp4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3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Anu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Anu(9).jpeg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morning everyone. I'm Anu...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script2presenter_demo (9).mp4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Sharukh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Sharukh(11).jpeg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morning everyone. I'm Sharukh...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script2presenter_demo (11).mp4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24129" marB="2412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5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Prabhas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Screenshot 2026-10-27 004154.png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morning everyone. I'm Prabhas...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script2presenter_demo (12).mp4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272*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30479" marB="3047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422" y="4648200"/>
            <a:ext cx="10728652" cy="19050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755" y="4738715"/>
            <a:ext cx="108239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Dataset Limitations &amp; Academic Integrity Principles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755" y="5012134"/>
            <a:ext cx="10214414" cy="146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Demonstration Set Only (n = 5):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Appropriate for engineering validation across distinct portrait conditions, but too small for statistical benchmarking or demographic fairness conclusions.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Confounding Variables: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Portraits differ simultaneously in lighting, head pose, crop, background, and input resolution. Failure modes cannot be causally attributed to one factor alone.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Informed Consent: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Explicit consent was obtained from participating individuals covering facial animation, text scripts, storage, and project evaluation.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Asymmetrical Dimension Note: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*Sample ID 5 was recorded at 256 × 272 pixels due to face bounding box aspect ratio preserved by the renderer, unlike the standard 256 × 256 square crop.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FF86CC-CFA7-FFD5-2D60-56043C9DD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260" y="6569652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DATA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801" y="782635"/>
            <a:ext cx="106372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Preprocessing &amp; Input Preparation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Ensuring consistent audio-visual alignment and strict data validation before inference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422" y="1828800"/>
            <a:ext cx="5211930" cy="4389239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133" y="2032000"/>
            <a:ext cx="51243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Input Validation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133" y="2514600"/>
            <a:ext cx="4514737" cy="317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Integrity Check: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Verifies readable JPEG/PNG format, non-empty file, and dimensions &gt;= 64 × 64 pixels.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Copy-Not-Move Policy: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source portrait is safely copied into the run folder; the original file is never modified or moved.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Facial Detection &amp; Cropping: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Uses facexlib (RetinaFace backbone) to isolate a single centered frontal face.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Preprocessing Modes: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Supports 'crop' (zoomed face box) and 'full' (preserves shoulders and background scene). Default is 'crop' at 256 × 256.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Face Restoration Option: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Configurable GFPGAN v1.4 checkpoint integration for facial super-resolution (disabled in baseline runs to isolate core model behavior).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685" y="1828800"/>
            <a:ext cx="5211930" cy="4389239"/>
          </a:xfrm>
          <a:prstGeom prst="roundRect">
            <a:avLst>
              <a:gd name="adj" fmla="val 19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396" y="2032000"/>
            <a:ext cx="51243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Speech Synthesis &amp; Conditioning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396" y="2514600"/>
            <a:ext cx="4514737" cy="339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Script Parsing &amp; Chunking: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Text scripts (1 - 5,000 characters) are parsed and chunked at sentence boundaries (~1,800 chars) to prevent TTS timeout.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Audio Resampling to 16 kHz: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SadTalker requires 16,000 Hz sample rate. FFmpeg resamples diverse TTS outputs (24 kHz edge-tts / 22 kHz Piper) to strict 16 kHz.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Mono Channel Conversion: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Ensures single-channel mono waveform to match the expected acoustic feature extractor (Wav2Vec / Mel-spectrogram).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Exact Audio Duration Probe: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FFprobe measures exact audio length in milliseconds to determine target video frame count (frames = round(duration * 25)).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Waveform Sanity Check: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Verifies non-silent, non-empty audio before launching expensive GPU inference.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AE3E74-4BD8-C4ED-A866-F205A5296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19874"/>
            <a:ext cx="1409772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3400"/>
            <a:ext cx="1122681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MODEL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801" y="813889"/>
            <a:ext cx="106372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Model Selection &amp; Technical Justification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801" y="1422400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Why SadTalker was selected and how the three-tier TTS cascade ensures resilience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905000"/>
            <a:ext cx="5486263" cy="4953000"/>
          </a:xfrm>
          <a:prstGeom prst="roundRect">
            <a:avLst>
              <a:gd name="adj" fmla="val 17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133" y="2082800"/>
            <a:ext cx="53986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SadTalker (Zhang et al., CVPR 2023)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133" y="2540000"/>
            <a:ext cx="4789070" cy="374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3D Motion Coefficient Learning: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Maps speech audio features directly to 3D Morphable Model (3DMM) coefficients, decoupling head pose from facial expression.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Pose &amp; Expression Generator: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Learns realistic head motion sequences while preventing unnatural head drift and distortion over multi-sentence clips.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Face Warping &amp; Rendering: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Uses 3D-aware flow warping to animate the single source image without needing full multi-view video training.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Pretrained Checkpoint Inference: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Project uses official SadTalker v0.0.2 weights (725 MB safetensors). No custom re-training was conducted.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Contribution Boundary: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Contribution is the end-to-end engineering pipeline, dependency sandbox, and evaluation, not a novel neural architecture.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018" y="1905000"/>
            <a:ext cx="4968056" cy="4953000"/>
          </a:xfrm>
          <a:prstGeom prst="roundRect">
            <a:avLst>
              <a:gd name="adj" fmla="val 17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7729" y="2082800"/>
            <a:ext cx="4875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Multi-Tier TTS Engine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7729" y="2540000"/>
            <a:ext cx="4265803" cy="4014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Tier 1: edge-tts (Primary):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Microsoft neural speech synthesis; delivers highly realistic, prosodic voice narration with natural inflections. Requires network access.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Tier 2: Piper VITS (Offline Fallback):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Fast local neural TTS using a 63 MB ONNX model. Runs 100% offline on CPU (1.6x real-time) if network fails.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Tier 3: gTTS (Emergency Fallback):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Standard Google Text-to-Speech client used if primary cloud endpoints are rate-limited.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Automatic Fallback Cascade: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pipeline tries providers in order: edge -&gt; piper -&gt; gtts. The actual provider used is logged in manifest.json.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Rejected Alternatives: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Kokoro-ONNX was evaluated but rejected due to an unresolvable dependency on NumPy &gt;= 2.0.2.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51BC0-94F8-7A5F-92B0-3344E2E54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88" y="6534150"/>
            <a:ext cx="1409772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52400"/>
            <a:ext cx="1203929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2396" y="389875"/>
            <a:ext cx="1188690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End-to-End Pipeline Execution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396" y="990501"/>
            <a:ext cx="1203929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Six-stage architectural decomposition from raw inputs to traceable MP4 delivery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2396" y="1384201"/>
            <a:ext cx="3017464" cy="2145605"/>
          </a:xfrm>
          <a:prstGeom prst="roundRect">
            <a:avLst>
              <a:gd name="adj" fmla="val 2561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3842" y="1555651"/>
            <a:ext cx="284601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3842" y="1792040"/>
            <a:ext cx="267457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Input Preparation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3842" y="2236490"/>
            <a:ext cx="2674573" cy="112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Single Portrait (JPG/PNG)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Test Script (1–5,000 char)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Aspect &amp; Dimension Check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Copy-not-move safety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27049" y="2190254"/>
            <a:ext cx="50282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86966" y="1384201"/>
            <a:ext cx="3017663" cy="2145605"/>
          </a:xfrm>
          <a:prstGeom prst="roundRect">
            <a:avLst>
              <a:gd name="adj" fmla="val 2561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8412" y="1555651"/>
            <a:ext cx="2846217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8412" y="1792040"/>
            <a:ext cx="267477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Speech Synthesis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8412" y="2236490"/>
            <a:ext cx="2674771" cy="112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Tier 1: edge-tts (Neural Cloud)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Tier 2: Piper VITS (offline CPU)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Tier 3: gTTS (Google fallback)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Sentence Chunking (1800 chars)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61719" y="2190254"/>
            <a:ext cx="50282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021735" y="1384201"/>
            <a:ext cx="3017464" cy="2145605"/>
          </a:xfrm>
          <a:prstGeom prst="roundRect">
            <a:avLst>
              <a:gd name="adj" fmla="val 2561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93181" y="1555651"/>
            <a:ext cx="284601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93181" y="1792040"/>
            <a:ext cx="267457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Audio Conditioning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93181" y="2236490"/>
            <a:ext cx="2674573" cy="112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FFmpeg Resampling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Standardised 16 kHz Mono WAV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Duration &amp; Waveform Check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Strict Channel Normalisation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2396" y="3682206"/>
            <a:ext cx="3017464" cy="2393255"/>
          </a:xfrm>
          <a:prstGeom prst="roundRect">
            <a:avLst>
              <a:gd name="adj" fmla="val 2296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3842" y="3853656"/>
            <a:ext cx="284601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3842" y="4090046"/>
            <a:ext cx="267457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SadTalker Inference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3842" y="4534495"/>
            <a:ext cx="2674573" cy="112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CropAndExtract (3DMM)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Audio2Coeff (Pose+Motion)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AnimateFromCoeff (Warping)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Optional GFPGAN Face Enhancer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27049" y="4612084"/>
            <a:ext cx="50282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586966" y="3682206"/>
            <a:ext cx="3017663" cy="2393255"/>
          </a:xfrm>
          <a:prstGeom prst="roundRect">
            <a:avLst>
              <a:gd name="adj" fmla="val 2296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8412" y="3853656"/>
            <a:ext cx="2846217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8412" y="4090046"/>
            <a:ext cx="267477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Video Encoding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758412" y="4534495"/>
            <a:ext cx="2674771" cy="112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H.264 / AVC Video Stream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AAC Mono 16 kHz Audio Mux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25 FPS Enforced Frame Rate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Size: 256x256 (or 512x512)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61719" y="4612084"/>
            <a:ext cx="50282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021735" y="3682206"/>
            <a:ext cx="3017464" cy="2393255"/>
          </a:xfrm>
          <a:prstGeom prst="roundRect">
            <a:avLst>
              <a:gd name="adj" fmla="val 2296"/>
            </a:avLst>
          </a:prstGeom>
          <a:solidFill>
            <a:srgbClr val="F8FAFC"/>
          </a:solidFill>
          <a:ln w="19050">
            <a:solidFill>
              <a:srgbClr val="BF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93181" y="3853656"/>
            <a:ext cx="284601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STAGE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93181" y="4090046"/>
            <a:ext cx="267457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Manifest &amp; Delivery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93181" y="4534495"/>
            <a:ext cx="2674573" cy="1369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outputs/&lt;timestamp&gt;_&lt;id&gt;/manifest.json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Runtime &amp; Timings Logged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Interactive Gradio Web UI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Colab Inline Player &amp; Download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AD2873F-3411-3E7D-D39A-1A7FFF32E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68" y="6496039"/>
            <a:ext cx="1409772" cy="3619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ENGINEERING &amp;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4707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Google Colab Runtime &amp; Dependency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47701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Resolving deep legacy framework incompatibilities to enable one-click execution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60451"/>
            <a:ext cx="3352716" cy="4328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6582" y="1993166"/>
            <a:ext cx="309872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The NumPy Pinning Crisis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6582" y="2311499"/>
            <a:ext cx="3098722" cy="344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SadTalker Legacy Code: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underlying face3d module strictly requires NumPy 1.23.5 for legacy C-API bindings (uses np.float and np.VisibleDeprecationWarning).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Python 3.13 in Colab: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modern Colab runtimes default to Python 3.13, where NumPy 1.23.5 has zero precompiled wheels.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Isolated Virtualenv: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setup_colab.sh creates an isolated Python 3.10 virtual environment in /content/.s2p-venv, leaving the Colab system Python untouched.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Strict Guard: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constraints.txt enforces numpy==1.23.5 on every pip invocation; setup aborts if the version drifts.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9489" y="1860451"/>
            <a:ext cx="3352716" cy="4328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6486" y="1993166"/>
            <a:ext cx="309872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Dynamic In-Memory Patches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6486" y="2311499"/>
            <a:ext cx="3098722" cy="375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Patched, Not Forked: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avoids unmaintainable git forks by applying 4 idempotent monkey-patches at runtime via s2p/patches.py.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PIL ANTIALIAS Fix: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replaces Pillow 10's removed Image.ANTIALIAS with Image.Resampling.LANCZOS.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Basicsr Tensor Import: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fixes the torchvision functional_tensor import removed within the basicsr library.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PyTorch Weights Loading: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overrides torch.load(weights_only=False), required for legacy .pth.tar model checkpoints.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Lazy GFPGAN Loading: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guards against crashes if optional face-enhancement checkpoints are omitted.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394" y="1860451"/>
            <a:ext cx="3352716" cy="4328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56391" y="1993166"/>
            <a:ext cx="309872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Checkpoint Management &amp;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6391" y="2311499"/>
            <a:ext cx="3098722" cy="344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Size-Verified Checkpoints: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1.2 GB of weights downloaded via download_checkpoints.py with HTTP HEAD pre-checks and exact byte-size assertions.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Dual Mirrors: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primary downloads from GitHub releases, with automatic fallback to Hugging Face (camenduru/SadTalker).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Gradio Web Interface: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interactive UI launched with a public shareable gradio.live link for non-technical users.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One-Click Notebook: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fully self-contained Colab notebook auto-generated via tools/build_notebook.py to ensure zero source drift.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EF84A6-61F5-5C5E-24FD-8AC464C64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32880"/>
            <a:ext cx="1409772" cy="316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oundRect">
            <a:avLst>
              <a:gd name="adj" fmla="val 499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8571" y="508000"/>
            <a:ext cx="112239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72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EXPERIMENTATION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8571" y="737689"/>
            <a:ext cx="1061435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Experimental Setup &amp; Reproducibility Protocol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8571" y="1295400"/>
            <a:ext cx="1122394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Ensuring academic traceability, environment logging, and structured run manifests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422" y="1854200"/>
            <a:ext cx="5120452" cy="4749800"/>
          </a:xfrm>
          <a:prstGeom prst="roundRect">
            <a:avLst>
              <a:gd name="adj" fmla="val 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2904" y="2063115"/>
            <a:ext cx="445758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Structured Manifest Schema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2904" y="2418655"/>
            <a:ext cx="4457588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Every run logs an atomic manifest.json in outputs/&lt;time&gt;_&lt;id&gt;: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inputs: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Original portrait path, image checksum, script text, and character count.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tts: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Provider used (edge/piper), selected voice, and synthesized audio duration.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audio: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rate (16 kHz), channel layout (mono), and duration in seconds.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generation: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Output size (256/512), preprocess mode (crop/full), enhancer setting, and compute device (cuda).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timings: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Precise wall-clock timings: tts_s, sadtalker_s, and total_s.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Paths to final encoded MP4, manifest, and intermediate WAV.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685" y="1854200"/>
            <a:ext cx="5211930" cy="4749800"/>
          </a:xfrm>
          <a:prstGeom prst="roundRect">
            <a:avLst>
              <a:gd name="adj" fmla="val 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49167" y="2063115"/>
            <a:ext cx="454896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Audit &amp; Reproducibility Checklist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9167" y="2418655"/>
            <a:ext cx="4548967" cy="401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Step 1: Clean Runtime Verification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Confirm Google Colab T4 GPU availability, CUDA driver version, and allocate clean /content directory.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Step 2: Environment Pinned Installation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Execute setup_colab.sh to instantiate Python 3.10, PyTorch 2.0.1+cu117, and NumPy 1.23.5.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Step 3: Checkpoint Integrity Audit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Verify MD5/byte sizes of SadTalker 256/512 safetensors and mapping models.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Step 4: Seed &amp; Parameter Enforcement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Lock preprocessing mode, output dimensions, audio sample rate, and face enhancer toggle.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✓ Step 5: Automated Output Validation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Run ffprobe on generated MP4s to verify H.264/AAC streams, 25 FPS frame rate, and non-empty bitstreams.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3077A9-892A-1C3F-A94C-7F835505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88" y="6585292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355600"/>
            <a:ext cx="11175720" cy="38100"/>
          </a:xfrm>
          <a:prstGeom prst="roundRect">
            <a:avLst>
              <a:gd name="adj" fmla="val 4999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5136" y="508000"/>
            <a:ext cx="116265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66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EVALUATION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5136" y="788489"/>
            <a:ext cx="1106142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Proposed Metrics &amp; Human-Centred Rubric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5136" y="1371600"/>
            <a:ext cx="1162655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Separating objective file-level verification from perceptual quality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7987" y="1778000"/>
            <a:ext cx="5460863" cy="4572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30" y="1993582"/>
            <a:ext cx="483857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Objective Evaluation 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9130" y="2413000"/>
            <a:ext cx="4838579" cy="380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Technical Validity: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Inspect video decodability, duration error (|vid - aud| / aud &lt; 1%), frame count = round(sec * 25), and H.264/AAC conformance.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Audio-Visual Lip Sync (SyncNet):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LSE-C (Confidence score, higher is better) and LSE-D (Distance score, lower is better) measuring mouth-sound synchronization.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Identity Preservation (ArcFace):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Cosine similarity between facial recognition embeddings of source still portrait vs. generated video frames (&gt; 0.65 threshold).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Temporal Stability: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Frame-to-frame facial landmark displacement tracking sudden jumps, unnatural jitter, or geometric deformations.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Computational Throughput (RTF):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Real-time factor (render_seconds / audio_seconds) on NVIDIA T4 GPU.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2844" y="1778000"/>
            <a:ext cx="5460863" cy="4572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3987" y="1993582"/>
            <a:ext cx="483857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Proposed 5-Point Subjective Rubric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3987" y="2413000"/>
            <a:ext cx="4838579" cy="306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Score 1 (Poor):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Clearly mismatched lips, severe warping/artifacts, face altered beyond recognition, strong jitter/flicker.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Score 2 (Weak):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Frequent desync, major visual artifacts, noticeable identity shifts, frequent temporal instability.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Score 3 (Acceptable):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Visible but tolerable sync drift, minor shimmer/artifacts, recognizable identity, moderate naturalness.</a:t>
            </a:r>
            <a:endParaRPr lang="en-US" sz="13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Score 4 (Good):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Mostly aligned mouth movements, minor isolated artifacts, consistent facial identity, mostly stable motion.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Score 5 (Convincing):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Natural speech alignment, clean realistic rendering, indistinguishable identity, smooth natural head dynamics.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3987" y="5619750"/>
            <a:ext cx="4838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Evaluation Note: Rigorous evaluation requires multi-rater blinded scoring across full video clips under uniform listening conditions.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795025-2A21-5A1D-3D8A-33F1E5832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512" y="6590982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52400"/>
            <a:ext cx="1203929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EXPERIMENTAL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2396" y="404396"/>
            <a:ext cx="1188690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Preliminary Findings &amp; Metric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396" y="959941"/>
            <a:ext cx="1203929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Empirical data from the five demonstration outputs processed through the pipeline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396" y="1372691"/>
          <a:ext cx="5714759" cy="2030758"/>
        </p:xfrm>
        <a:graphic>
          <a:graphicData uri="http://schemas.openxmlformats.org/drawingml/2006/table">
            <a:tbl>
              <a:tblPr/>
              <a:tblGrid>
                <a:gridCol w="114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5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Label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Duration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Frames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Size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1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Sravan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37.60 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940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Sreeya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39.60 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990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Anu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37.28 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932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4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Sharukh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37.60 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940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5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Prabhas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37.28 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932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272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8105" marR="98105" marT="52323" marB="52323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2396" y="3496469"/>
            <a:ext cx="57147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Descriptive Summary Statistics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2396" y="3881537"/>
            <a:ext cx="5714758" cy="91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Mean Duration:</a:t>
            </a:r>
            <a:r>
              <a:rPr lang="en-US" sz="10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37.87 seconds (range: 37.28s to 39.60s).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Mean Frame Count:</a:t>
            </a:r>
            <a:r>
              <a:rPr lang="en-US" sz="10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946.8 frames (enforced 25.0 FPS encoding).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Container / Codec:</a:t>
            </a:r>
            <a:r>
              <a:rPr lang="en-US" sz="10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All 5 videos decoded successfully as H.264 (High) + AAC Mono 16 kHz.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Caveat:</a:t>
            </a:r>
            <a:r>
              <a:rPr lang="en-US" sz="10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File validity confirms container integrity, not perceptual lip-sync accuracy.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343" y="1372691"/>
            <a:ext cx="5079873" cy="2090241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3" y="3543201"/>
            <a:ext cx="5079873" cy="2090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67ABB3-7875-D2AA-B158-807140978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228" y="6600819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EMPIRICAL DEMONSTRATION · SAMPLE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801" y="792976"/>
            <a:ext cx="1121639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Proof &amp; Video Demonstration: Sample 1 (Sravan)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High-clarity frontal author portrait conditioned on neural speech synthesis at nominal 25 FPS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422" y="1783060"/>
            <a:ext cx="5120552" cy="4617839"/>
          </a:xfrm>
          <a:prstGeom prst="roundRect">
            <a:avLst>
              <a:gd name="adj" fmla="val 19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755" y="1906191"/>
            <a:ext cx="521589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Native Embedded Video Player  |  Sample ID 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05" y="2331641"/>
            <a:ext cx="3748986" cy="374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963" y="6140053"/>
            <a:ext cx="518166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► Click video to play with audio  •  H.264/AVC  •  16 kHz AAC Mono  •  25 FPS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4929" y="1783060"/>
            <a:ext cx="5425146" cy="4953000"/>
          </a:xfrm>
          <a:prstGeom prst="roundRect">
            <a:avLst>
              <a:gd name="adj" fmla="val 186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262" y="1905000"/>
            <a:ext cx="55203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Temporal Consistency Proof Plate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84" y="2260600"/>
            <a:ext cx="5059335" cy="1219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262" y="3505200"/>
            <a:ext cx="4876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Input Portrait   ➔   Keyframe @ 3s   ➔   Keyframe @ 15s   ➔   Keyframe @ 27s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884" y="3987800"/>
            <a:ext cx="5059335" cy="1168400"/>
          </a:xfrm>
          <a:prstGeom prst="roundRect">
            <a:avLst>
              <a:gd name="adj" fmla="val 148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640" y="4038600"/>
            <a:ext cx="4727953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 File: script2presenter_demo (4).mp4  |  Dimensions: 256 × 256 px (Square)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Duration: 37.60 s  |  Frame Count: 940 frames  |  FPS: 25.0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Source: Sravan(4).jpeg (Consented Author Portrait)  |  Speech Synthesis: Microsoft Neural (edge-tts en-US-ChristopherNeural)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262" y="5156200"/>
            <a:ext cx="4910808" cy="132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Diagnostic Findings: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Lip Synchronization: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Highest fidelity mouth alignment in the set; crisp consonant closure on plosives ('p', 'b') and accurate viseme mapping.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Identity Preservation: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Facial structure, skin tone, and hair boundaries perfectly retained across all 940 frames with zero drift.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Head Dynamics: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Natural pitch and yaw micro-movements synchronized with sentence prosodic emphasis without geometric distortion.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0FD02D-141C-54AA-0402-4BA1A8186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228" y="6600159"/>
            <a:ext cx="1409772" cy="209561"/>
          </a:xfrm>
          <a:prstGeom prst="rect">
            <a:avLst/>
          </a:prstGeom>
        </p:spPr>
      </p:pic>
      <p:pic>
        <p:nvPicPr>
          <p:cNvPr id="17" name="script2presenter_demo (4).mp4">
            <a:hlinkClick r:id="" action="ppaction://media"/>
            <a:extLst>
              <a:ext uri="{FF2B5EF4-FFF2-40B4-BE49-F238E27FC236}">
                <a16:creationId xmlns:a16="http://schemas.microsoft.com/office/drawing/2014/main" id="{846FB3C8-83F6-2ABF-0DE8-B9CC5C1CC8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7320" y="2331720"/>
            <a:ext cx="3749039" cy="3749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EMPIRICAL DEMONSTRATION · SAMPLE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801" y="792976"/>
            <a:ext cx="1136879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Proof &amp; Video Demonstration: Sample 2 (Sreeya)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Longest demonstration sequence (39.60s / 990 frames) evaluating extended multi-sentence stability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422" y="1783060"/>
            <a:ext cx="5120552" cy="4617839"/>
          </a:xfrm>
          <a:prstGeom prst="roundRect">
            <a:avLst>
              <a:gd name="adj" fmla="val 19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755" y="1906191"/>
            <a:ext cx="521589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Native Embedded Video Player  |  Sample ID 2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05" y="2331641"/>
            <a:ext cx="3748986" cy="374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963" y="6140053"/>
            <a:ext cx="518166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► Click video to play with audio  •  H.264/AVC  •  16 kHz AAC Mono  •  25 FPS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4929" y="1676400"/>
            <a:ext cx="5425146" cy="4775200"/>
          </a:xfrm>
          <a:prstGeom prst="roundRect">
            <a:avLst>
              <a:gd name="adj" fmla="val 193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262" y="1803400"/>
            <a:ext cx="54902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Temporal Consistency Proof Plate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84" y="2260600"/>
            <a:ext cx="5059335" cy="1066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262" y="3403600"/>
            <a:ext cx="4876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Input Portrait   ➔   Keyframe @ 3s   ➔   Keyframe @ 15s   ➔   Keyframe @ 27s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884" y="3708400"/>
            <a:ext cx="5059335" cy="1117600"/>
          </a:xfrm>
          <a:prstGeom prst="roundRect">
            <a:avLst>
              <a:gd name="adj" fmla="val 15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640" y="3759200"/>
            <a:ext cx="4727953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 File: script2presenter_demo (10).mp4  |  Dimensions: 256 × 256 px (Square)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Duration: 39.60 s  |  Frame Count: 990 frames  |  FPS: 25.0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Source: Sreeya(10).jpeg (Consented Participant Portrait)  |  Speech Synthesis: Microsoft Neural (edge-tts en-US-JennyNeural)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262" y="4909820"/>
            <a:ext cx="55203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Diagnostic Findings: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09262" y="5141317"/>
            <a:ext cx="4910808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Extended Stability: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Demonstrates temporal stability across the longest clip in test set; no frame degradation over 39.60 seconds.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Facial Expression: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Natural transition from initial gentle smile to active speech articulation with smooth cheek and mouth deformations.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Artifact Resistance: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Preserved peripheral hair strands and static background without boundary tearing or ghosting halos.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FAEE6D-6446-D30B-C274-593EB65B16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5188" y="6604000"/>
            <a:ext cx="1409772" cy="209561"/>
          </a:xfrm>
          <a:prstGeom prst="rect">
            <a:avLst/>
          </a:prstGeom>
        </p:spPr>
      </p:pic>
      <p:pic>
        <p:nvPicPr>
          <p:cNvPr id="18" name="script2presenter_demo (10).mp4">
            <a:hlinkClick r:id="" action="ppaction://media"/>
            <a:extLst>
              <a:ext uri="{FF2B5EF4-FFF2-40B4-BE49-F238E27FC236}">
                <a16:creationId xmlns:a16="http://schemas.microsoft.com/office/drawing/2014/main" id="{13EA66F0-6A8E-C646-12FF-38E59F7F1E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7320" y="2331720"/>
            <a:ext cx="3749039" cy="3749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EMPIRICAL DEMONSTRATION · SAMPLE 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801" y="783085"/>
            <a:ext cx="1063727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Proof &amp; Video Demonstration: Sample 3 (Anu)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Warm indoor lighting condition evaluating facial landmark extraction and syllable cadence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783060"/>
            <a:ext cx="5120552" cy="4617839"/>
          </a:xfrm>
          <a:prstGeom prst="roundRect">
            <a:avLst>
              <a:gd name="adj" fmla="val 19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755" y="1906191"/>
            <a:ext cx="52158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Native Embedded Video Player  |  Sample ID 3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05" y="2331641"/>
            <a:ext cx="3748986" cy="374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755" y="6096000"/>
            <a:ext cx="457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► Click video to play with audio  •  H.264/AVC  •  16 kHz AAC Mono  •  25 FPS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4929" y="1783060"/>
            <a:ext cx="5425146" cy="4871839"/>
          </a:xfrm>
          <a:prstGeom prst="roundRect">
            <a:avLst>
              <a:gd name="adj" fmla="val 189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262" y="1906191"/>
            <a:ext cx="549023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Temporal Consistency Proof Plate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84" y="2235200"/>
            <a:ext cx="5059335" cy="1270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262" y="3556000"/>
            <a:ext cx="4876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Input Portrait   ➔   Keyframe @ 3s   ➔   Keyframe @ 15s   ➔   Keyframe @ 27s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884" y="4013200"/>
            <a:ext cx="5059335" cy="1041400"/>
          </a:xfrm>
          <a:prstGeom prst="roundRect">
            <a:avLst>
              <a:gd name="adj" fmla="val 16683"/>
            </a:avLst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640" y="4064000"/>
            <a:ext cx="4727953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 File: script2presenter_demo (9).mp4  |  Dimensions: 256 × 256 px (Square)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Duration: 37.28 s  |  Frame Count: 932 frames  |  FPS: 25.0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Source: Anu(9).jpeg (Consented Participant Portrait)  |  Speech Synthesis: Microsoft Neural (edge-tts en-US-JennyNeural)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262" y="5130800"/>
            <a:ext cx="4910808" cy="132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Diagnostic Findings: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A5B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Lip Synchronisation: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Consistent mouth-audio synchronization; minor temporal smoothing observed during rapid multi-syllabic phrases.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Identity &amp; Lighting: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Warm ambient tones accurately preserved; facexlib successfully handled slight initial head tilt.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Motion Continuity: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Stable head motion with subtle natural eye focus shifts across the 37.28-second narration.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65E0DE-C0DE-734E-682B-F9A2133EC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228" y="6583139"/>
            <a:ext cx="1409772" cy="209561"/>
          </a:xfrm>
          <a:prstGeom prst="rect">
            <a:avLst/>
          </a:prstGeom>
        </p:spPr>
      </p:pic>
      <p:pic>
        <p:nvPicPr>
          <p:cNvPr id="17" name="script2presenter_demo (9).mp4">
            <a:hlinkClick r:id="" action="ppaction://media"/>
            <a:extLst>
              <a:ext uri="{FF2B5EF4-FFF2-40B4-BE49-F238E27FC236}">
                <a16:creationId xmlns:a16="http://schemas.microsoft.com/office/drawing/2014/main" id="{9F367A3D-E50C-2557-5037-D3428384CD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7320" y="2331720"/>
            <a:ext cx="3749039" cy="3749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482600"/>
            <a:ext cx="112268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EMPIRICAL DEMONSTRATION · SAMPLE 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801" y="728345"/>
            <a:ext cx="1063727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Proof &amp; Video Demonstration: Sample 4 (Sharukh)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801" y="1270000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Resolution-bound diagnostic test evaluating pipeline sensitivity to lower-quality input portraits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625600"/>
            <a:ext cx="5120552" cy="5232400"/>
          </a:xfrm>
          <a:prstGeom prst="roundRect">
            <a:avLst>
              <a:gd name="adj" fmla="val 18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755" y="1752600"/>
            <a:ext cx="52158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Native Embedded Video Player  |  Sample ID 4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05" y="2331641"/>
            <a:ext cx="3748986" cy="374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755" y="6146800"/>
            <a:ext cx="457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► Click video to play with audio  •  H.264/AVC  •  16 kHz AAC Mono  •  25 FPS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4929" y="1625600"/>
            <a:ext cx="5425146" cy="5232400"/>
          </a:xfrm>
          <a:prstGeom prst="roundRect">
            <a:avLst>
              <a:gd name="adj" fmla="val 176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262" y="1752600"/>
            <a:ext cx="549023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Temporal Consistency Proof Plate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84" y="2108200"/>
            <a:ext cx="5059335" cy="1168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04469" y="3327400"/>
            <a:ext cx="54861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Input Portrait  ➔  Keyframe @ 3s  ➔  Keyframe @ 15s  ➔  Keyframe @ 27s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884" y="3810000"/>
            <a:ext cx="5059335" cy="1320800"/>
          </a:xfrm>
          <a:prstGeom prst="roundRect">
            <a:avLst>
              <a:gd name="adj" fmla="val 13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640" y="3860800"/>
            <a:ext cx="4727953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 File: script2presenter_demo (11).mp4  |  Dimensions: 256 × 256 px (Square)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Duration: 37.60 s  |  Frame Count: 940 frames  |  FPS: 25.0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Source: Sharukh(11).jpeg (Lower Resolution Source Portrait)  |  Speech Synthesis: Microsoft Neural (edge-tts en-US-ChristopherNeural)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262" y="5240020"/>
            <a:ext cx="55203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Diagnostic Findings: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09262" y="5471517"/>
            <a:ext cx="4910808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Diagnostic Finding: </a:t>
            </a:r>
            <a:r>
              <a:rPr lang="en-US" sz="12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Lowest source portrait resolution in demonstration set; serves as a vital negative/boundary test case.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Soft Viseme Deformation: </a:t>
            </a:r>
            <a:r>
              <a:rPr lang="en-US" sz="12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Reduced input clarity caused softer landmark detection, leading to noticeable lip-sync lag during fast consonants.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Integrity Trade-off: </a:t>
            </a:r>
            <a:r>
              <a:rPr lang="en-US" sz="12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Face remains recognizable, but absence of sharp facial contours limits 3DMM coefficient precision.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A4E463-3E0A-D39E-21B2-AE8E7ED518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0468" y="6605259"/>
            <a:ext cx="1409772" cy="209561"/>
          </a:xfrm>
          <a:prstGeom prst="rect">
            <a:avLst/>
          </a:prstGeom>
        </p:spPr>
      </p:pic>
      <p:pic>
        <p:nvPicPr>
          <p:cNvPr id="18" name="script2presenter_demo (11).mp4">
            <a:hlinkClick r:id="" action="ppaction://media"/>
            <a:extLst>
              <a:ext uri="{FF2B5EF4-FFF2-40B4-BE49-F238E27FC236}">
                <a16:creationId xmlns:a16="http://schemas.microsoft.com/office/drawing/2014/main" id="{E50E5A9C-3552-3547-40AB-EE2FD2DB16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7320" y="2331720"/>
            <a:ext cx="3749039" cy="3749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EMPIRICAL DEMONSTRATION · SAMPLE 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801" y="782635"/>
            <a:ext cx="1136879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Visual Proof &amp; Video Demonstration: Sample 5 (Prabhas)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Asymmetrical bounding crop edge case (256×272 px) evaluating aspect-ratio preservation and blinking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783060"/>
            <a:ext cx="5120552" cy="5074841"/>
          </a:xfrm>
          <a:prstGeom prst="roundRect">
            <a:avLst>
              <a:gd name="adj" fmla="val 18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755" y="1906191"/>
            <a:ext cx="52158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Native Embedded Video Player  |  Sample ID 5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05" y="2331641"/>
            <a:ext cx="3748986" cy="374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963" y="6121400"/>
            <a:ext cx="51816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► Click video to play with audio  •  H.264  •  16 kHz AAC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4929" y="1783060"/>
            <a:ext cx="5425146" cy="5074841"/>
          </a:xfrm>
          <a:prstGeom prst="roundRect">
            <a:avLst>
              <a:gd name="adj" fmla="val 18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262" y="1906191"/>
            <a:ext cx="54902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Temporal Consistency Proof Plate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884" y="2311400"/>
            <a:ext cx="5059335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262" y="3505200"/>
            <a:ext cx="4876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Input Portrait   ➔   Keyframe @ 3s   ➔   Keyframe @ 15s   ➔   Keyframe @ 27s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884" y="3962400"/>
            <a:ext cx="5059335" cy="1168400"/>
          </a:xfrm>
          <a:prstGeom prst="roundRect">
            <a:avLst>
              <a:gd name="adj" fmla="val 148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640" y="4013200"/>
            <a:ext cx="4727953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Output File: script2presenter_demo (12).mp4  |  Dimensions: 256 × 272 px* (Asymmetrical Aspect Ratio)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Duration: 37.28 s  |  Frame Count: 932 frames  |  FPS: 25.0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• Source: Screenshot 2026-10-27 004154.png (Screenshot Source)  |  Speech Synthesis: Microsoft Neural (edge-tts en-US-ChristopherNeural)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9262" y="5208615"/>
            <a:ext cx="552039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Diagnostic Findings: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09262" y="5461397"/>
            <a:ext cx="4910808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Asymmetrical Dimension: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*Generated at 256 × 272 pixels due to facexlib preserving screenshot bounding-box aspect ratio during face crop.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Eye Dynamics vs Lips: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Demonstrated natural spontaneous eye blinking; however, exhibited irregular lip movement during sustained vowels.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Architectural Insight: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Highlights the engineering requirement to enforce strict square letterboxing in production preprocessing.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6DE702-6E92-BA9A-FBAD-9B2EFF1CF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5188" y="6609011"/>
            <a:ext cx="1409772" cy="209561"/>
          </a:xfrm>
          <a:prstGeom prst="rect">
            <a:avLst/>
          </a:prstGeom>
        </p:spPr>
      </p:pic>
      <p:pic>
        <p:nvPicPr>
          <p:cNvPr id="18" name="script2presenter_demo (12).mp4">
            <a:hlinkClick r:id="" action="ppaction://media"/>
            <a:extLst>
              <a:ext uri="{FF2B5EF4-FFF2-40B4-BE49-F238E27FC236}">
                <a16:creationId xmlns:a16="http://schemas.microsoft.com/office/drawing/2014/main" id="{9BAA31D8-0338-EBD9-7285-C5C80455C3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7320" y="2331720"/>
            <a:ext cx="3749039" cy="3749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4591"/>
            <a:ext cx="9276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COMPARATIVE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801" y="792976"/>
            <a:ext cx="1136879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Cross-Sample Performance &amp; Evaluation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801" y="1330127"/>
            <a:ext cx="11246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Direct multi-dimensional comparison across all five demonstration portraits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422" y="1783060"/>
            <a:ext cx="10728652" cy="2926159"/>
          </a:xfrm>
          <a:prstGeom prst="roundRect">
            <a:avLst>
              <a:gd name="adj" fmla="val 19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377" y="1874441"/>
          <a:ext cx="10362940" cy="2697294"/>
        </p:xfrm>
        <a:graphic>
          <a:graphicData uri="http://schemas.openxmlformats.org/drawingml/2006/table">
            <a:tbl>
              <a:tblPr/>
              <a:tblGrid>
                <a:gridCol w="91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9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Subject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Source Attributes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Dimensions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Lip-Sync Est.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Identity Stability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Empirical Diagnosis</a:t>
                      </a:r>
                      <a:endParaRPr lang="en-US" sz="9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1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Sravan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High res, sharp frontal, balanced light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High (Score: 4.5/5)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Excellent (Score: 4.8/5)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Best baseline lip-sync and landmark fidelity.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2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Sreeya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High res, clear frontal, slight smile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High (Score: 4.2/5)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Excellent (Score: 4.7/5)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Longest stable sequence (39.60s / 990f); zero tearing.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3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Anu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Medium res, warm indoor, slight tilt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Moderate (Score: 3.8/5)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(Score: 4.4/5)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Minor mouth drift on rapid syllables; stable identity.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4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Sharukh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Lower res, softer edge contrast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256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Soft (Score: 2.8/5)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Moderate (Score: 3.5/5)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Resolution bottleneck; proves input clarity sensitivity.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ID 5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Prabhas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Screenshot crop, non-square bounding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256 × 272*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Variable (Score: 3.1/5)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Good (Score: 4.0/5)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787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0"/>
                        </a:rPr>
                        <a:t>Asymmetrical aspect edge case; realistic blinking.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422" y="4846439"/>
            <a:ext cx="10728652" cy="15544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755" y="4951313"/>
            <a:ext cx="1082399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Key Cross-Sample Empirical Takeaways: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755" y="5191323"/>
            <a:ext cx="10214414" cy="57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Input Clarity Is the Primary Predictor of 3DMM Precision: </a:t>
            </a:r>
            <a:r>
              <a:rPr lang="en-US" sz="9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1 vs Sample 4 proves that RetinaFace landmark precision directly dictates mouth boundary accuracy and perceived speech synchronisation.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Aspect-Ratio Preservation Leakage: </a:t>
            </a:r>
            <a:r>
              <a:rPr lang="en-US" sz="9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5 demonstrates that unconstrained bounding box cropping can introduce non-standard container resolutions (256×272), underscoring the need for mandatory square letterboxing.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Temporal Stability over Extended Durations: </a:t>
            </a:r>
            <a:r>
              <a:rPr lang="en-US" sz="95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2 proves that SadTalker's decoupled pose-expression generator remains stable up to 1,000 frames without accumulation of head drift or facial warping.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8CC29F-5195-548B-87DA-4B946D90C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88" y="6553359"/>
            <a:ext cx="1409772" cy="3046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oundRect">
            <a:avLst>
              <a:gd name="adj" fmla="val 499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8571" y="508000"/>
            <a:ext cx="112239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72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CRITICAL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8571" y="788489"/>
            <a:ext cx="1061435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Discussion, Failure Modes &amp; Threats to Validity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8571" y="1371600"/>
            <a:ext cx="112239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Academic reflection on system performance, input dependencies, and research constraints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778000"/>
            <a:ext cx="5206870" cy="4622800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2565" y="2006600"/>
            <a:ext cx="51941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Qualitative Failure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2565" y="2438400"/>
            <a:ext cx="4584585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Rendering Success ≠ Perceptual Quality: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 successful 25 FPS MP4 container does not guarantee accurate phoneme-viseme alignment or natural expressions.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Input Resolution Dependency: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ID 1 (highest clarity portrait) generated the sharpest, best-synchronized output; Sample ID 4 (lowest clarity) exhibited the greatest lip-sync lag.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Non-Linear Facial Dynamics: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ID 5 exhibited natural eye blinking concurrently with irregular lip movements and micro-jumps in head pose.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Mel-Spectrogram Approximation: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Because SadTalker is conditioned on mel-spectrogram features rather than a direct phoneme aligner, rapid consonant bursts can drift.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• Head Motion Repetition: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Over 35+ seconds of narration, synthesized head motion can exhibit cyclical, slightly repetitive patterns.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685" y="1778000"/>
            <a:ext cx="5242389" cy="4622800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28827" y="2006600"/>
            <a:ext cx="52296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Threats to Academic Validity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27" y="2438400"/>
            <a:ext cx="4620105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⚠</a:t>
            </a: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 Very Small Sample Size (n = 5):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Prevents rigorous statistical hypothesis testing or generalizability across broader demographic distributions.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⚠</a:t>
            </a: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 Confounded Portrait Attributes: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Lighting, background, pose, and resolution varied simultaneously; causal isolation of single parameters is not possible.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⚠</a:t>
            </a: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 Absence of Ground-Truth Video: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No real speaking video of the participants was recorded to calculate objective reconstruction error (LSE-C, PSNR, SSIM).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⚠</a:t>
            </a: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 Single-Rater Subjectivity: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Preliminary qualitative observations were conducted by the project author rather than an independent blinded human panel.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⚠</a:t>
            </a:r>
            <a:r>
              <a:rPr lang="en-US" sz="12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 Inference-Only Scope: </a:t>
            </a:r>
            <a:r>
              <a:rPr lang="en-US" sz="12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Pretrained weights were deployed; no novel loss function, training schedule, or model weights are claimed.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DD415C-011E-6D63-9A3C-DC5A68AD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040" y="6559539"/>
            <a:ext cx="1409772" cy="2984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6329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kern="100" spc="72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76371"/>
            <a:ext cx="1107412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Ethical, Legal &amp; Societal Considerations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8786" y="1217513"/>
            <a:ext cx="116329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Safeguarding against deepfake misuse, enforcing consent, and promoting responsible synthetic media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8786" y="1649313"/>
            <a:ext cx="3386549" cy="44170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6582" y="1814096"/>
            <a:ext cx="303095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1. Consent &amp; Privacy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582" y="2156222"/>
            <a:ext cx="3030958" cy="3331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Explicit Facial Consent: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Responsible generative AI requires unambiguous consent for speech synthesis and facial animation, not mere photo ownership.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Scope of Agreement: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Consent covers specific scripts, voice assignment, storage, and academic dissemination.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Right to Erasure: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Source images, audio tracks, manifests, and videos must be securely deleted upon subject request.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Data Minimization: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Inputs and generated artifacts should be stored in access-controlled environments.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523" y="1649313"/>
            <a:ext cx="3386549" cy="44170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80319" y="1814096"/>
            <a:ext cx="303095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91C1C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2. Misuse &amp; Attribution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0319" y="2156222"/>
            <a:ext cx="3030958" cy="375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Synthetic Media Risk: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Audio-driven talking heads can be weaponized for impersonation, deceptive political messaging, or fraud.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Mandatory AI Disclosure: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All synthetic outputs must carry prominent visual watermarks or metadata disclaimers declaring 'AI-Generated'.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No Impersonation Features: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System architecture deliberately contains no voice-cloning or identity spoofing capabilities.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Prohibited Domains: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Strict usage policy forbidding deceptive financial, medical, legal, or defamatory content generation.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46261" y="1649313"/>
            <a:ext cx="3386648" cy="44170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24056" y="1814096"/>
            <a:ext cx="30310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3. Society &amp; Accessibility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24056" y="2156222"/>
            <a:ext cx="3031057" cy="3544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Accessible Education: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Enables rapid generation of multi-lingual educational explainers at near-zero production cost.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Assistive Communication: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Provides virtual presenter interfaces for individuals with speech or mobility impairments.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Demographic Bias Mitigation: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Requires expanding evaluation across diverse ethnicities, skin tones, age brackets, and lighting conditions.</a:t>
            </a:r>
            <a:endParaRPr lang="en-US" sz="1400" dirty="0"/>
          </a:p>
          <a:p>
            <a:pPr marL="284480" indent="-28448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Open Science &amp; Ethics: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Adherence to transparent documentation, open reproducibility, and rigorous disclosure of technical limitations.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422" y="365720"/>
            <a:ext cx="10728652" cy="36513"/>
          </a:xfrm>
          <a:prstGeom prst="roundRect">
            <a:avLst>
              <a:gd name="adj" fmla="val 499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786D5D-5F11-C578-50D1-DCCE4705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227" y="6500540"/>
            <a:ext cx="1409772" cy="3574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000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OUTLOOK &amp; ENGINEERING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61847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Future Research &amp; Production Hardening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19101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Systematic path for automated metric pipelines, model adaptation, and scalability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701006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585" y="1909862"/>
            <a:ext cx="5257668" cy="4224734"/>
          </a:xfrm>
          <a:prstGeom prst="roundRect">
            <a:avLst>
              <a:gd name="adj" fmla="val 13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77" y="216386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Automated Metric &amp; Quality Pipelines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377" y="2548930"/>
            <a:ext cx="4648084" cy="333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Automated SyncNet Pipeline: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Integrate LSE-C / LSE-D evaluation script to compute objective lip-synchronization confidence scores automatically on every render.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Identity Similarity Pipeline: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Incorporate ArcFace / InsightFace embeddings to score facial identity drift frame-by-frame and detect distortion outliers.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Output Resolution Normalization: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Hard-enforce uniform 256 × 256 (or 512 × 512) letterboxing/cropping to eliminate asymmetrical edge cases.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Real-Time Factor Optimization: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Benchmark TensorRT and ONNX Runtime FP16 execution to reduce inference RTF below 1.0 on modern edge GPUs.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2" y="1909862"/>
            <a:ext cx="5257668" cy="4224734"/>
          </a:xfrm>
          <a:prstGeom prst="roundRect">
            <a:avLst>
              <a:gd name="adj" fmla="val 13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234" y="216386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Model Adaptation &amp; Human Evaluation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234" y="2548930"/>
            <a:ext cx="4648084" cy="333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Blinded Multi-Rater User Study: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Recruit an independent panel of human evaluators across demographic tiers to score synchronisation, expressiveness, and naturalness.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Phoneme-Conditioned Loss: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Explore hybrid Wav2Vec2 + phoneme alignment conditioning to eliminate mel-spectrogram averaging errors during rapid consonants.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Fine-Tuning Feasibility Study: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Train domain-specific 3DMM mapping models on licensed high-frame-rate datasets to enhance articulation on specialized vocabularies.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Real-Time Streaming Protocol: </a:t>
            </a: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Transition from batch MP4 file output to low-latency WebRTC chunk streaming for interactive conversational AI avatars.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3D1D7C-A78E-17C1-3754-0F5EB9BC1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20557"/>
            <a:ext cx="1409772" cy="3374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66045"/>
            <a:ext cx="3860703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ACADEMIC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2403520"/>
            <a:ext cx="35559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Summary of Contributions &amp; Research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3949601"/>
            <a:ext cx="1173431" cy="31651"/>
          </a:xfrm>
          <a:prstGeom prst="roundRect">
            <a:avLst>
              <a:gd name="adj" fmla="val 4999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4158456"/>
            <a:ext cx="355591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Final project synthesis for MAAI901 Deep Learning for Visual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22684" y="177800"/>
            <a:ext cx="6959426" cy="1168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678" y="344150"/>
            <a:ext cx="647683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1. End-to-End Generative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76678" y="728266"/>
            <a:ext cx="6476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Successfully implemented and orchestrated Script2Presenter, converting a single 2D still portrait and raw text script into an audio-synchronized 25 FPS H.264 video without manual keyframing or actor capture.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2684" y="1803400"/>
            <a:ext cx="6959426" cy="1168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6678" y="1969750"/>
            <a:ext cx="647683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2. Runtime Isolation &amp; Resilience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76678" y="2353866"/>
            <a:ext cx="6476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Resolved critical NumPy 1.23.5 C-API deprecations on modern Colab Python 3.13 via an isolated Python 3.10 virtual environment, dynamic in-memory patches, and a 3-tier speech synthesis fallback cascade.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2684" y="3429000"/>
            <a:ext cx="6959426" cy="139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6678" y="3595350"/>
            <a:ext cx="647683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3. Empirical Verification Across 5 Portraits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6678" y="3979466"/>
            <a:ext cx="6476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Demonstrated container consistency (~37.87s mean duration, 25 FPS, H.264/AAC), while empirical observation confirmed that perceptual lip-sync fidelity depends directly on input portrait sharpness and lighting.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2684" y="5283200"/>
            <a:ext cx="6959426" cy="139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6678" y="5449550"/>
            <a:ext cx="647683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D28D9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4. Academic Integrity &amp; Responsible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6678" y="5833666"/>
            <a:ext cx="6476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Maintained explicit separation between pretrained model weights and pipeline orchestration, logged atomic manifest.json audit trails, obtained participant consent, and established deepfake mitigation policies.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DF7FC8-3387-E210-771E-327DB34D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75419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365720"/>
            <a:ext cx="10728652" cy="36513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801" y="533400"/>
            <a:ext cx="112268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PROJECT REFERENCES &amp; Q&amp;A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801" y="813889"/>
            <a:ext cx="106372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Delivered Artifacts, Reproducibility &amp; Acknowledgements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801" y="1397000"/>
            <a:ext cx="11246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Complete inventory of source code, execution notebooks, and verification deliverables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422" y="1905000"/>
            <a:ext cx="5206870" cy="4445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133" y="2108200"/>
            <a:ext cx="51091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Delivered Project Artifacts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133" y="2540000"/>
            <a:ext cx="4499557" cy="3700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PowerPoint Deck (Primary):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Script2Presenter_Final_Presentation.pptx (23 Widescreen 16:9 Slides with embedded playable MP4s).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Colab Executable Notebook: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Script2Presenter_Colab.ipynb (Automated one-click setup, venv isolation, checkpoint verification, and UI).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Core Python Package (s2p/):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Modular architecture: tts.py, audio.py, sadtalker.py, patches.py, pipeline.py, gradio_app.py.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Structured Manifests: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outputs/&lt;timestamp&gt;_&lt;id&gt;/manifest.json capturing atomic audit trail for all runs.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Composite Proof Plates: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sample_1_proof_plate.jpg to sample_5_proof_plate.jpg (4-stage temporal keyframe progressions).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FFprobe Verification Logs: </a:t>
            </a:r>
            <a:r>
              <a:rPr lang="en-US" sz="13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Validated H.264 High Profile bitstreams, AAC 16 kHz Mono, and 25.0 FPS nominal rates.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3084" y="1905000"/>
            <a:ext cx="5211930" cy="4445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08796" y="2108200"/>
            <a:ext cx="51218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Course Acknowledgements &amp; Q&amp;A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8796" y="2545715"/>
            <a:ext cx="512184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Presenter / Student: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Venkata Saisravan Pasam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8796" y="2783780"/>
            <a:ext cx="4512257" cy="245824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Student Identification: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1577293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Academic Course: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MAAI901 - Deep Learning for Visual Data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Course Instructor: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Dr. Milan Dordevic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Academic Institution: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University of Wollongong in Dubai (UOWD)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Academic Term: </a:t>
            </a:r>
            <a:r>
              <a:rPr lang="en-US" sz="1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Individual Project (Week 6) - 27 October 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8796" y="5253454"/>
            <a:ext cx="4512257" cy="513060"/>
          </a:xfrm>
          <a:prstGeom prst="rect">
            <a:avLst/>
          </a:prstGeom>
          <a:noFill/>
          <a:ln/>
        </p:spPr>
        <p:txBody>
          <a:bodyPr wrap="square" lIns="0" tIns="177796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Thank You for Your Attention.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08796" y="5760799"/>
            <a:ext cx="512184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Questions &amp; Technical Discussion Welcome.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F99BB7-10C7-2BF8-2E3D-D197D65D7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28" y="6584939"/>
            <a:ext cx="1409772" cy="209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5167</Words>
  <Application>Microsoft Office PowerPoint</Application>
  <PresentationFormat>Widescreen</PresentationFormat>
  <Paragraphs>491</Paragraphs>
  <Slides>23</Slides>
  <Notes>23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Carlito Bold</vt:lpstr>
      <vt:lpstr>Arial</vt:lpstr>
      <vt:lpstr>Carlito</vt:lpstr>
      <vt:lpstr>Noto Color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Sravan Pasam</cp:lastModifiedBy>
  <cp:revision>3</cp:revision>
  <dcterms:created xsi:type="dcterms:W3CDTF">2026-10-27T10:20:46Z</dcterms:created>
  <dcterms:modified xsi:type="dcterms:W3CDTF">2026-10-27T10:55:26Z</dcterms:modified>
</cp:coreProperties>
</file>